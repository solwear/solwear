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5143500" cx="9144000"/>
  <p:notesSz cx="5143500" cy="9144000"/>
  <p:embeddedFontLst>
    <p:embeddedFont>
      <p:font typeface="Archivo Light"/>
      <p:regular r:id="rId18"/>
      <p:bold r:id="rId19"/>
      <p:italic r:id="rId20"/>
      <p:boldItalic r:id="rId21"/>
    </p:embeddedFont>
    <p:embeddedFont>
      <p:font typeface="Archivo ExtraLight"/>
      <p:regular r:id="rId22"/>
      <p:bold r:id="rId23"/>
      <p:italic r:id="rId24"/>
      <p:boldItalic r:id="rId25"/>
    </p:embeddedFont>
    <p:embeddedFont>
      <p:font typeface="Archivo Thin"/>
      <p:regular r:id="rId26"/>
      <p:bold r:id="rId27"/>
      <p:italic r:id="rId28"/>
      <p:boldItalic r:id="rId29"/>
    </p:embeddedFont>
    <p:embeddedFont>
      <p:font typeface="Arial Black"/>
      <p:regular r:id="rId30"/>
    </p:embeddedFont>
    <p:embeddedFont>
      <p:font typeface="Archivo"/>
      <p:regular r:id="rId31"/>
      <p:bold r:id="rId32"/>
      <p:italic r:id="rId33"/>
      <p:boldItalic r:id="rId34"/>
    </p:embeddedFont>
    <p:embeddedFont>
      <p:font typeface="Archivo Black"/>
      <p:bold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7" roundtripDataSignature="AMtx7miyBUHuoKC7RLCyZMVQWPDf270y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chivoLight-italic.fntdata"/><Relationship Id="rId22" Type="http://schemas.openxmlformats.org/officeDocument/2006/relationships/font" Target="fonts/ArchivoExtraLight-regular.fntdata"/><Relationship Id="rId21" Type="http://schemas.openxmlformats.org/officeDocument/2006/relationships/font" Target="fonts/ArchivoLight-boldItalic.fntdata"/><Relationship Id="rId24" Type="http://schemas.openxmlformats.org/officeDocument/2006/relationships/font" Target="fonts/ArchivoExtraLight-italic.fntdata"/><Relationship Id="rId23" Type="http://schemas.openxmlformats.org/officeDocument/2006/relationships/font" Target="fonts/ArchivoExtraLight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ArchivoThin-regular.fntdata"/><Relationship Id="rId25" Type="http://schemas.openxmlformats.org/officeDocument/2006/relationships/font" Target="fonts/ArchivoExtraLight-boldItalic.fntdata"/><Relationship Id="rId28" Type="http://schemas.openxmlformats.org/officeDocument/2006/relationships/font" Target="fonts/ArchivoThin-italic.fntdata"/><Relationship Id="rId27" Type="http://schemas.openxmlformats.org/officeDocument/2006/relationships/font" Target="fonts/ArchivoThin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ArchivoThin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Archivo-regular.fntdata"/><Relationship Id="rId30" Type="http://schemas.openxmlformats.org/officeDocument/2006/relationships/font" Target="fonts/ArialBlack-regular.fntdata"/><Relationship Id="rId11" Type="http://schemas.openxmlformats.org/officeDocument/2006/relationships/slide" Target="slides/slide7.xml"/><Relationship Id="rId33" Type="http://schemas.openxmlformats.org/officeDocument/2006/relationships/font" Target="fonts/Archivo-italic.fntdata"/><Relationship Id="rId10" Type="http://schemas.openxmlformats.org/officeDocument/2006/relationships/slide" Target="slides/slide6.xml"/><Relationship Id="rId32" Type="http://schemas.openxmlformats.org/officeDocument/2006/relationships/font" Target="fonts/Archivo-bold.fntdata"/><Relationship Id="rId13" Type="http://schemas.openxmlformats.org/officeDocument/2006/relationships/slide" Target="slides/slide9.xml"/><Relationship Id="rId35" Type="http://schemas.openxmlformats.org/officeDocument/2006/relationships/font" Target="fonts/ArchivoBlack-bold.fntdata"/><Relationship Id="rId12" Type="http://schemas.openxmlformats.org/officeDocument/2006/relationships/slide" Target="slides/slide8.xml"/><Relationship Id="rId34" Type="http://schemas.openxmlformats.org/officeDocument/2006/relationships/font" Target="fonts/Archivo-boldItalic.fntdata"/><Relationship Id="rId15" Type="http://schemas.openxmlformats.org/officeDocument/2006/relationships/slide" Target="slides/slide11.xml"/><Relationship Id="rId37" Type="http://customschemas.google.com/relationships/presentationmetadata" Target="metadata"/><Relationship Id="rId14" Type="http://schemas.openxmlformats.org/officeDocument/2006/relationships/slide" Target="slides/slide10.xml"/><Relationship Id="rId36" Type="http://schemas.openxmlformats.org/officeDocument/2006/relationships/font" Target="fonts/ArchivoBlack-boldItalic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ArchivoLight-bold.fntdata"/><Relationship Id="rId18" Type="http://schemas.openxmlformats.org/officeDocument/2006/relationships/font" Target="fonts/ArchivoLigh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latin typeface="Arial"/>
                <a:ea typeface="Arial"/>
                <a:cs typeface="Arial"/>
                <a:sym typeface="Arial"/>
              </a:rPr>
              <a:t>Your crypto wallet should not live in your pocket.</a:t>
            </a:r>
            <a:br>
              <a:rPr b="1" lang="en-US" sz="2800">
                <a:latin typeface="Arial"/>
                <a:ea typeface="Arial"/>
                <a:cs typeface="Arial"/>
                <a:sym typeface="Arial"/>
              </a:rPr>
            </a:br>
            <a:r>
              <a:rPr b="1" lang="en-US" sz="2800">
                <a:latin typeface="Arial"/>
                <a:ea typeface="Arial"/>
                <a:cs typeface="Arial"/>
                <a:sym typeface="Arial"/>
              </a:rPr>
              <a:t> It should live on your wrist.</a:t>
            </a:r>
            <a:endParaRPr b="1" sz="2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Your Crypto. On Your Wrist</a:t>
            </a:r>
            <a:br>
              <a:rPr lang="en-US"/>
            </a:br>
            <a:r>
              <a:rPr lang="en-US" sz="11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Tap to approve. Keys stay off your phone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dfde850f7b_1_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g3dfde850f7b_1_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" name="Google Shape;23;g3dfde850f7b_1_6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" name="Google Shape;3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" name="Google Shape;4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" name="Google Shape;5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dfde850f7b_1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g3dfde850f7b_1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" name="Google Shape;60;g3dfde850f7b_1_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dfde850f7b_1_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g3dfde850f7b_1_9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" name="Google Shape;69;g3dfde850f7b_1_9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dfde850f7b_1_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g3dfde850f7b_1_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" name="Google Shape;84;g3dfde850f7b_1_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07db3f41c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g3e07db3f41c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" name="Google Shape;93;g3e07db3f41c_0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fde850f7b_1_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g3dfde850f7b_1_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" name="Google Shape;104;g3dfde850f7b_1_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e0b9255965_0_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g3e0b9255965_0_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g3e0b9255965_0_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transition spd="med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8.jpg"/><Relationship Id="rId5" Type="http://schemas.openxmlformats.org/officeDocument/2006/relationships/image" Target="../media/image20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3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2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4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2.png"/><Relationship Id="rId5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jp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8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8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6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8.png"/><Relationship Id="rId4" Type="http://schemas.openxmlformats.org/officeDocument/2006/relationships/image" Target="../media/image13.png"/><Relationship Id="rId5" Type="http://schemas.openxmlformats.org/officeDocument/2006/relationships/image" Target="../media/image15.png"/><Relationship Id="rId6" Type="http://schemas.openxmlformats.org/officeDocument/2006/relationships/image" Target="../media/image19.png"/><Relationship Id="rId7" Type="http://schemas.openxmlformats.org/officeDocument/2006/relationships/image" Target="../media/image2.png"/><Relationship Id="rId8" Type="http://schemas.openxmlformats.org/officeDocument/2006/relationships/image" Target="../media/image1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12.png"/><Relationship Id="rId8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" title="Layer 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2479" y="0"/>
            <a:ext cx="223904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478200" y="2271761"/>
            <a:ext cx="24684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ts val="5200"/>
              <a:buFont typeface="Arial Black"/>
              <a:buNone/>
            </a:pPr>
            <a:r>
              <a:rPr b="1" i="0" lang="en-US" sz="3400" cap="none" strike="noStrike">
                <a:solidFill>
                  <a:srgbClr val="F8F8F8"/>
                </a:solidFill>
                <a:latin typeface="Arial Black"/>
                <a:ea typeface="Arial Black"/>
                <a:cs typeface="Arial Black"/>
                <a:sym typeface="Arial Black"/>
              </a:rPr>
              <a:t>SOL</a:t>
            </a:r>
            <a:r>
              <a:rPr b="0" i="1" lang="en-US" sz="3100" cap="none" strike="noStrike">
                <a:solidFill>
                  <a:srgbClr val="F8F8F8"/>
                </a:solidFill>
                <a:latin typeface="Arial Black"/>
                <a:ea typeface="Arial Black"/>
                <a:cs typeface="Arial Black"/>
                <a:sym typeface="Arial Black"/>
              </a:rPr>
              <a:t>WEAR</a:t>
            </a:r>
            <a:endParaRPr b="0" i="1" sz="3100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18;p1" title="white_logo_without_bg..jp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00673" y="2015688"/>
            <a:ext cx="942650" cy="942675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"/>
          <p:cNvSpPr txBox="1"/>
          <p:nvPr/>
        </p:nvSpPr>
        <p:spPr>
          <a:xfrm>
            <a:off x="5902975" y="2348538"/>
            <a:ext cx="3110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1700">
                <a:solidFill>
                  <a:schemeClr val="lt1"/>
                </a:solidFill>
              </a:rPr>
              <a:t>Your Crypto. On Your Wrist.</a:t>
            </a:r>
            <a:endParaRPr b="1" sz="3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0606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dfde850f7b_1_69"/>
          <p:cNvSpPr txBox="1"/>
          <p:nvPr/>
        </p:nvSpPr>
        <p:spPr>
          <a:xfrm>
            <a:off x="220350" y="236350"/>
            <a:ext cx="25509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Secure</a:t>
            </a:r>
            <a:r>
              <a:rPr lang="en-US" sz="2000">
                <a:solidFill>
                  <a:schemeClr val="lt1"/>
                </a:solidFill>
                <a:latin typeface="Archivo ExtraLight"/>
                <a:ea typeface="Archivo ExtraLight"/>
                <a:cs typeface="Archivo ExtraLight"/>
                <a:sym typeface="Archivo ExtraLight"/>
              </a:rPr>
              <a:t> crypto payments should be as </a:t>
            </a:r>
            <a:r>
              <a:rPr lang="en-US" sz="2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easy</a:t>
            </a:r>
            <a:r>
              <a:rPr lang="en-US" sz="2000">
                <a:solidFill>
                  <a:schemeClr val="lt1"/>
                </a:solidFill>
                <a:latin typeface="Archivo ExtraLight"/>
                <a:ea typeface="Archivo ExtraLight"/>
                <a:cs typeface="Archivo ExtraLight"/>
                <a:sym typeface="Archivo ExtraLight"/>
              </a:rPr>
              <a:t> as tapping your wrist. </a:t>
            </a:r>
            <a:endParaRPr sz="2000">
              <a:solidFill>
                <a:schemeClr val="lt1"/>
              </a:solidFill>
              <a:latin typeface="Archivo ExtraLight"/>
              <a:ea typeface="Archivo ExtraLight"/>
              <a:cs typeface="Archivo ExtraLight"/>
              <a:sym typeface="Archivo ExtraLight"/>
            </a:endParaRPr>
          </a:p>
        </p:txBody>
      </p:sp>
      <p:pic>
        <p:nvPicPr>
          <p:cNvPr id="26" name="Google Shape;26;g3dfde850f7b_1_69" title="white_logo_without_bg.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350" y="4551825"/>
            <a:ext cx="436125" cy="43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g3dfde850f7b_1_69"/>
          <p:cNvPicPr preferRelativeResize="0"/>
          <p:nvPr/>
        </p:nvPicPr>
        <p:blipFill rotWithShape="1">
          <a:blip r:embed="rId4">
            <a:alphaModFix/>
          </a:blip>
          <a:srcRect b="0" l="28596" r="6485" t="0"/>
          <a:stretch/>
        </p:blipFill>
        <p:spPr>
          <a:xfrm>
            <a:off x="3209550" y="-8"/>
            <a:ext cx="593445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g3dfde850f7b_1_69"/>
          <p:cNvPicPr preferRelativeResize="0"/>
          <p:nvPr/>
        </p:nvPicPr>
        <p:blipFill rotWithShape="1">
          <a:blip r:embed="rId5">
            <a:alphaModFix/>
          </a:blip>
          <a:srcRect b="0" l="28928" r="6154" t="0"/>
          <a:stretch/>
        </p:blipFill>
        <p:spPr>
          <a:xfrm>
            <a:off x="3209550" y="0"/>
            <a:ext cx="593445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2" title="Untitleаd-2.png"/>
          <p:cNvPicPr preferRelativeResize="0"/>
          <p:nvPr/>
        </p:nvPicPr>
        <p:blipFill rotWithShape="1">
          <a:blip r:embed="rId4">
            <a:alphaModFix/>
          </a:blip>
          <a:srcRect b="29607" l="0" r="7613" t="0"/>
          <a:stretch/>
        </p:blipFill>
        <p:spPr>
          <a:xfrm>
            <a:off x="-19925" y="0"/>
            <a:ext cx="9163924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2"/>
          <p:cNvSpPr/>
          <p:nvPr/>
        </p:nvSpPr>
        <p:spPr>
          <a:xfrm>
            <a:off x="234800" y="2252813"/>
            <a:ext cx="3616500" cy="22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Hot wallets are fast</a:t>
            </a:r>
            <a:r>
              <a:rPr lang="en-US" sz="19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  <a:t>, but risky.</a:t>
            </a:r>
            <a:endParaRPr sz="1900">
              <a:solidFill>
                <a:schemeClr val="dk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Cold wallets are secure</a:t>
            </a:r>
            <a:r>
              <a:rPr lang="en-US" sz="19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  <a:t>, but inconvenient.</a:t>
            </a:r>
            <a:endParaRPr sz="1900">
              <a:solidFill>
                <a:schemeClr val="dk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Hardware wallets are safe</a:t>
            </a:r>
            <a:r>
              <a:rPr lang="en-US" sz="19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  <a:t>, but not built for daily payments.</a:t>
            </a:r>
            <a:endParaRPr sz="1900">
              <a:solidFill>
                <a:schemeClr val="dk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234800" y="617883"/>
            <a:ext cx="4206300" cy="13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ts val="3600"/>
              <a:buFont typeface="Arial Black"/>
              <a:buNone/>
            </a:pPr>
            <a:r>
              <a:rPr lang="en-US" sz="36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the</a:t>
            </a:r>
            <a:r>
              <a:rPr b="1" lang="en-US" sz="3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n-US" sz="5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PROBLEM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" name="Google Shape;37;p2" title="black_logo_without_bg.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65125" y="107850"/>
            <a:ext cx="403500" cy="40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2" title="IMG00в0.jpg"/>
          <p:cNvPicPr preferRelativeResize="0"/>
          <p:nvPr/>
        </p:nvPicPr>
        <p:blipFill rotWithShape="1">
          <a:blip r:embed="rId6">
            <a:alphaModFix/>
          </a:blip>
          <a:srcRect b="0" l="20324" r="8211" t="0"/>
          <a:stretch/>
        </p:blipFill>
        <p:spPr>
          <a:xfrm>
            <a:off x="4161350" y="0"/>
            <a:ext cx="498265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"/>
          <p:cNvSpPr/>
          <p:nvPr/>
        </p:nvSpPr>
        <p:spPr>
          <a:xfrm>
            <a:off x="411475" y="523671"/>
            <a:ext cx="4206300" cy="13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ts val="3600"/>
              <a:buFont typeface="Arial Black"/>
              <a:buNone/>
            </a:pPr>
            <a:r>
              <a:rPr lang="en-US" sz="3600">
                <a:solidFill>
                  <a:srgbClr val="F8F8F8"/>
                </a:solidFill>
                <a:latin typeface="Archivo Light"/>
                <a:ea typeface="Archivo Light"/>
                <a:cs typeface="Archivo Light"/>
                <a:sym typeface="Archivo Light"/>
              </a:rPr>
              <a:t>Meet</a:t>
            </a:r>
            <a:r>
              <a:rPr b="1" lang="en-US" sz="3600">
                <a:solidFill>
                  <a:srgbClr val="F8F8F8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n-US" sz="5200">
                <a:solidFill>
                  <a:srgbClr val="F8F8F8"/>
                </a:solidFill>
                <a:latin typeface="Arial Black"/>
                <a:ea typeface="Arial Black"/>
                <a:cs typeface="Arial Black"/>
                <a:sym typeface="Arial Black"/>
              </a:rPr>
              <a:t>SOL</a:t>
            </a:r>
            <a:r>
              <a:rPr i="1" lang="en-US" sz="4900">
                <a:solidFill>
                  <a:srgbClr val="F8F8F8"/>
                </a:solidFill>
                <a:latin typeface="Arial Black"/>
                <a:ea typeface="Arial Black"/>
                <a:cs typeface="Arial Black"/>
                <a:sym typeface="Arial Black"/>
              </a:rPr>
              <a:t>WEAR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411475" y="2305575"/>
            <a:ext cx="4491600" cy="22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8C8C8"/>
              </a:buClr>
              <a:buSzPts val="1150"/>
              <a:buFont typeface="Calibri"/>
              <a:buNone/>
            </a:pPr>
            <a:r>
              <a:rPr lang="en-US" sz="1650">
                <a:solidFill>
                  <a:schemeClr val="lt1"/>
                </a:solidFill>
                <a:latin typeface="Archivo Thin"/>
                <a:ea typeface="Archivo Thin"/>
                <a:cs typeface="Archivo Thin"/>
                <a:sym typeface="Archivo Thin"/>
              </a:rPr>
              <a:t>SolWear combines cold-wallet level security with the convenience of a wearable payment device.</a:t>
            </a:r>
            <a:endParaRPr sz="1650">
              <a:solidFill>
                <a:schemeClr val="lt1"/>
              </a:solidFill>
              <a:latin typeface="Archivo Thin"/>
              <a:ea typeface="Archivo Thin"/>
              <a:cs typeface="Archivo Thin"/>
              <a:sym typeface="Archivo Thin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8C8C8"/>
              </a:buClr>
              <a:buSzPts val="1150"/>
              <a:buFont typeface="Calibri"/>
              <a:buNone/>
            </a:pPr>
            <a:r>
              <a:t/>
            </a:r>
            <a:endParaRPr sz="1650">
              <a:solidFill>
                <a:schemeClr val="lt1"/>
              </a:solidFill>
              <a:latin typeface="Archivo Thin"/>
              <a:ea typeface="Archivo Thin"/>
              <a:cs typeface="Archivo Thin"/>
              <a:sym typeface="Archivo Thin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8C8C8"/>
              </a:buClr>
              <a:buSzPts val="1150"/>
              <a:buFont typeface="Calibri"/>
              <a:buNone/>
            </a:pPr>
            <a:r>
              <a:rPr lang="en-US" sz="1650">
                <a:solidFill>
                  <a:schemeClr val="lt1"/>
                </a:solidFill>
                <a:latin typeface="Archivo Thin"/>
                <a:ea typeface="Archivo Thin"/>
                <a:cs typeface="Archivo Thin"/>
                <a:sym typeface="Archivo Thin"/>
              </a:rPr>
              <a:t>Designed for fast Solana payments, offline transaction signing, and real-world crypto usage - without sacrificing privacy or control. </a:t>
            </a:r>
            <a:endParaRPr sz="1650">
              <a:solidFill>
                <a:schemeClr val="lt1"/>
              </a:solidFill>
              <a:latin typeface="Archivo Thin"/>
              <a:ea typeface="Archivo Thin"/>
              <a:cs typeface="Archivo Thin"/>
              <a:sym typeface="Archivo Thin"/>
            </a:endParaRPr>
          </a:p>
        </p:txBody>
      </p:sp>
      <p:pic>
        <p:nvPicPr>
          <p:cNvPr id="46" name="Google Shape;4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62150" y="523663"/>
            <a:ext cx="3635099" cy="409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3" title="white_logo_without_bg..jp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12375" y="182875"/>
            <a:ext cx="436125" cy="43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"/>
          <p:cNvSpPr/>
          <p:nvPr/>
        </p:nvSpPr>
        <p:spPr>
          <a:xfrm>
            <a:off x="199650" y="205448"/>
            <a:ext cx="36459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ts val="3600"/>
              <a:buFont typeface="Arial Black"/>
              <a:buNone/>
            </a:pPr>
            <a:r>
              <a:rPr lang="en-US" sz="4000">
                <a:solidFill>
                  <a:srgbClr val="F8F8F8"/>
                </a:solidFill>
                <a:latin typeface="Archivo Light"/>
                <a:ea typeface="Archivo Light"/>
                <a:cs typeface="Archivo Light"/>
                <a:sym typeface="Archivo Light"/>
              </a:rPr>
              <a:t>how it </a:t>
            </a:r>
            <a:r>
              <a:rPr b="1" lang="en-US" sz="4000">
                <a:solidFill>
                  <a:srgbClr val="F8F8F8"/>
                </a:solidFill>
                <a:latin typeface="Archivo"/>
                <a:ea typeface="Archivo"/>
                <a:cs typeface="Archivo"/>
                <a:sym typeface="Archivo"/>
              </a:rPr>
              <a:t>works</a:t>
            </a:r>
            <a:r>
              <a:rPr lang="en-US" sz="4000">
                <a:solidFill>
                  <a:srgbClr val="F8F8F8"/>
                </a:solidFill>
                <a:latin typeface="Archivo Light"/>
                <a:ea typeface="Archivo Light"/>
                <a:cs typeface="Archivo Light"/>
                <a:sym typeface="Archivo Light"/>
              </a:rPr>
              <a:t>?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" name="Google Shape;54;p5" title="white_logo_without_bg..jp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9650" y="4564375"/>
            <a:ext cx="436125" cy="43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5"/>
          <p:cNvPicPr preferRelativeResize="0"/>
          <p:nvPr/>
        </p:nvPicPr>
        <p:blipFill rotWithShape="1">
          <a:blip r:embed="rId5">
            <a:alphaModFix/>
          </a:blip>
          <a:srcRect b="0" l="28639" r="14739" t="0"/>
          <a:stretch/>
        </p:blipFill>
        <p:spPr>
          <a:xfrm>
            <a:off x="4682550" y="0"/>
            <a:ext cx="446144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5"/>
          <p:cNvSpPr txBox="1"/>
          <p:nvPr/>
        </p:nvSpPr>
        <p:spPr>
          <a:xfrm>
            <a:off x="199650" y="1232700"/>
            <a:ext cx="35136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chivo Thin"/>
                <a:ea typeface="Archivo Thin"/>
                <a:cs typeface="Archivo Thin"/>
                <a:sym typeface="Archivo Thin"/>
              </a:rPr>
              <a:t>The phone prepares the transaction.</a:t>
            </a:r>
            <a:endParaRPr sz="1800">
              <a:solidFill>
                <a:schemeClr val="lt1"/>
              </a:solidFill>
              <a:latin typeface="Archivo Thin"/>
              <a:ea typeface="Archivo Thin"/>
              <a:cs typeface="Archivo Thin"/>
              <a:sym typeface="Archivo Th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chivo Thin"/>
                <a:ea typeface="Archivo Thin"/>
                <a:cs typeface="Archivo Thin"/>
                <a:sym typeface="Archivo Thin"/>
              </a:rPr>
              <a:t>SolWear shows what is being signed.</a:t>
            </a:r>
            <a:endParaRPr sz="1800">
              <a:solidFill>
                <a:schemeClr val="lt1"/>
              </a:solidFill>
              <a:latin typeface="Archivo Thin"/>
              <a:ea typeface="Archivo Thin"/>
              <a:cs typeface="Archivo Thin"/>
              <a:sym typeface="Archivo Th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chivo Thin"/>
                <a:ea typeface="Archivo Thin"/>
                <a:cs typeface="Archivo Thin"/>
                <a:sym typeface="Archivo Thin"/>
              </a:rPr>
              <a:t>The user confirms on the device.</a:t>
            </a:r>
            <a:endParaRPr sz="1800">
              <a:solidFill>
                <a:schemeClr val="lt1"/>
              </a:solidFill>
              <a:latin typeface="Archivo Thin"/>
              <a:ea typeface="Archivo Thin"/>
              <a:cs typeface="Archivo Thin"/>
              <a:sym typeface="Archivo Th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chivo Thin"/>
                <a:ea typeface="Archivo Thin"/>
                <a:cs typeface="Archivo Thin"/>
                <a:sym typeface="Archivo Thin"/>
              </a:rPr>
              <a:t>The phone broadcasts the signed transaction.</a:t>
            </a:r>
            <a:endParaRPr sz="1800">
              <a:solidFill>
                <a:schemeClr val="lt1"/>
              </a:solidFill>
              <a:latin typeface="Archivo Thin"/>
              <a:ea typeface="Archivo Thin"/>
              <a:cs typeface="Archivo Thin"/>
              <a:sym typeface="Archivo Th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chivo Thin"/>
                <a:ea typeface="Archivo Thin"/>
                <a:cs typeface="Archivo Thin"/>
                <a:sym typeface="Archivo Thin"/>
              </a:rPr>
              <a:t>The private key never leaves SolWear.</a:t>
            </a:r>
            <a:endParaRPr sz="1800">
              <a:solidFill>
                <a:schemeClr val="lt1"/>
              </a:solidFill>
              <a:latin typeface="Archivo Thin"/>
              <a:ea typeface="Archivo Thin"/>
              <a:cs typeface="Archivo Thin"/>
              <a:sym typeface="Archivo Thi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g3dfde850f7b_1_30" title="IMG0s00.jpg"/>
          <p:cNvPicPr preferRelativeResize="0"/>
          <p:nvPr/>
        </p:nvPicPr>
        <p:blipFill rotWithShape="1">
          <a:blip r:embed="rId3">
            <a:alphaModFix/>
          </a:blip>
          <a:srcRect b="27992" l="-5932" r="0" t="8576"/>
          <a:stretch/>
        </p:blipFill>
        <p:spPr>
          <a:xfrm>
            <a:off x="4964575" y="0"/>
            <a:ext cx="417942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g3dfde850f7b_1_30"/>
          <p:cNvSpPr/>
          <p:nvPr/>
        </p:nvSpPr>
        <p:spPr>
          <a:xfrm>
            <a:off x="411475" y="446725"/>
            <a:ext cx="5542500" cy="13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ts val="3600"/>
              <a:buFont typeface="Arial Black"/>
              <a:buNone/>
            </a:pPr>
            <a:r>
              <a:rPr lang="en-US" sz="3600">
                <a:solidFill>
                  <a:srgbClr val="F8F8F8"/>
                </a:solidFill>
                <a:latin typeface="Archivo Light"/>
                <a:ea typeface="Archivo Light"/>
                <a:cs typeface="Archivo Light"/>
                <a:sym typeface="Archivo Light"/>
              </a:rPr>
              <a:t>the</a:t>
            </a:r>
            <a:br>
              <a:rPr lang="en-US" sz="3600">
                <a:solidFill>
                  <a:srgbClr val="F8F8F8"/>
                </a:solidFill>
                <a:latin typeface="Archivo Light"/>
                <a:ea typeface="Archivo Light"/>
                <a:cs typeface="Archivo Light"/>
                <a:sym typeface="Archivo Light"/>
              </a:rPr>
            </a:br>
            <a:r>
              <a:rPr b="1" lang="en-US" sz="5200" u="sng">
                <a:solidFill>
                  <a:srgbClr val="F8F8F8"/>
                </a:solidFill>
                <a:latin typeface="Arial Black"/>
                <a:ea typeface="Arial Black"/>
                <a:cs typeface="Arial Black"/>
                <a:sym typeface="Arial Black"/>
              </a:rPr>
              <a:t>SECURITY</a:t>
            </a:r>
            <a:endParaRPr b="1" sz="36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g3dfde850f7b_1_30"/>
          <p:cNvSpPr txBox="1"/>
          <p:nvPr/>
        </p:nvSpPr>
        <p:spPr>
          <a:xfrm>
            <a:off x="411475" y="2170125"/>
            <a:ext cx="4553100" cy="26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chivo Thin"/>
                <a:ea typeface="Archivo Thin"/>
                <a:cs typeface="Archivo Thin"/>
                <a:sym typeface="Archivo Thin"/>
              </a:rPr>
              <a:t>No internet connection.</a:t>
            </a:r>
            <a:endParaRPr sz="1600">
              <a:solidFill>
                <a:schemeClr val="lt1"/>
              </a:solidFill>
              <a:latin typeface="Archivo Thin"/>
              <a:ea typeface="Archivo Thin"/>
              <a:cs typeface="Archivo Thin"/>
              <a:sym typeface="Archivo Thi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chivo Thin"/>
                <a:ea typeface="Archivo Thin"/>
                <a:cs typeface="Archivo Thin"/>
                <a:sym typeface="Archivo Thin"/>
              </a:rPr>
              <a:t>No remote access.</a:t>
            </a:r>
            <a:endParaRPr sz="1600">
              <a:solidFill>
                <a:schemeClr val="lt1"/>
              </a:solidFill>
              <a:latin typeface="Archivo Thin"/>
              <a:ea typeface="Archivo Thin"/>
              <a:cs typeface="Archivo Thin"/>
              <a:sym typeface="Archivo Thi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chivo Thin"/>
                <a:ea typeface="Archivo Thin"/>
                <a:cs typeface="Archivo Thin"/>
                <a:sym typeface="Archivo Thin"/>
              </a:rPr>
              <a:t>No private key on the phone.</a:t>
            </a:r>
            <a:endParaRPr sz="1600">
              <a:solidFill>
                <a:schemeClr val="lt1"/>
              </a:solidFill>
              <a:latin typeface="Archivo Thin"/>
              <a:ea typeface="Archivo Thin"/>
              <a:cs typeface="Archivo Thin"/>
              <a:sym typeface="Archivo Thi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chivo Thin"/>
                <a:ea typeface="Archivo Thin"/>
                <a:cs typeface="Archivo Thin"/>
                <a:sym typeface="Archivo Thin"/>
              </a:rPr>
              <a:t>Offline signing only.</a:t>
            </a:r>
            <a:endParaRPr sz="1600">
              <a:solidFill>
                <a:schemeClr val="lt1"/>
              </a:solidFill>
              <a:latin typeface="Archivo Thin"/>
              <a:ea typeface="Archivo Thin"/>
              <a:cs typeface="Archivo Thin"/>
              <a:sym typeface="Archivo Thi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chivo Thin"/>
                <a:ea typeface="Archivo Thin"/>
                <a:cs typeface="Archivo Thin"/>
                <a:sym typeface="Archivo Thin"/>
              </a:rPr>
              <a:t>Own unique secure </a:t>
            </a:r>
            <a:r>
              <a:rPr lang="en-US" sz="1600">
                <a:solidFill>
                  <a:schemeClr val="lt1"/>
                </a:solidFill>
                <a:latin typeface="Archivo Thin"/>
                <a:ea typeface="Archivo Thin"/>
                <a:cs typeface="Archivo Thin"/>
                <a:sym typeface="Archivo Thin"/>
              </a:rPr>
              <a:t>algorithms.</a:t>
            </a:r>
            <a:endParaRPr sz="1600">
              <a:solidFill>
                <a:schemeClr val="lt1"/>
              </a:solidFill>
              <a:latin typeface="Archivo Thin"/>
              <a:ea typeface="Archivo Thin"/>
              <a:cs typeface="Archivo Thin"/>
              <a:sym typeface="Archivo Thi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chivo Thin"/>
                <a:ea typeface="Archivo Thin"/>
                <a:cs typeface="Archivo Thin"/>
                <a:sym typeface="Archivo Thin"/>
              </a:rPr>
              <a:t>Full transaction preview before approval.</a:t>
            </a:r>
            <a:endParaRPr sz="1600">
              <a:solidFill>
                <a:schemeClr val="lt1"/>
              </a:solidFill>
              <a:latin typeface="Archivo Thin"/>
              <a:ea typeface="Archivo Thin"/>
              <a:cs typeface="Archivo Thin"/>
              <a:sym typeface="Archivo Thin"/>
            </a:endParaRPr>
          </a:p>
        </p:txBody>
      </p:sp>
      <p:pic>
        <p:nvPicPr>
          <p:cNvPr id="65" name="Google Shape;65;g3dfde850f7b_1_30" title="white_logo_without_bg..jp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12375" y="182875"/>
            <a:ext cx="436125" cy="43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fde850f7b_1_91"/>
          <p:cNvSpPr/>
          <p:nvPr/>
        </p:nvSpPr>
        <p:spPr>
          <a:xfrm>
            <a:off x="2011500" y="294253"/>
            <a:ext cx="5121000" cy="5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ts val="3600"/>
              <a:buFont typeface="Arial Black"/>
              <a:buNone/>
            </a:pPr>
            <a:r>
              <a:rPr lang="en-US" sz="3000">
                <a:solidFill>
                  <a:srgbClr val="F8F8F8"/>
                </a:solidFill>
                <a:latin typeface="Archivo Light"/>
                <a:ea typeface="Archivo Light"/>
                <a:cs typeface="Archivo Light"/>
                <a:sym typeface="Archivo Light"/>
              </a:rPr>
              <a:t>competitors </a:t>
            </a:r>
            <a:r>
              <a:rPr i="1" lang="en-US" sz="3000" u="sng">
                <a:solidFill>
                  <a:srgbClr val="F8F8F8"/>
                </a:solidFill>
                <a:latin typeface="Archivo Light"/>
                <a:ea typeface="Archivo Light"/>
                <a:cs typeface="Archivo Light"/>
                <a:sym typeface="Archivo Light"/>
              </a:rPr>
              <a:t>comparison</a:t>
            </a:r>
            <a:endParaRPr b="0" i="1" sz="30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" name="Google Shape;72;g3dfde850f7b_1_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5125" y="1235575"/>
            <a:ext cx="8653751" cy="3414975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3" name="Google Shape;73;g3dfde850f7b_1_91" title="white_logo_without_bg..jp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12375" y="182875"/>
            <a:ext cx="436125" cy="43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g3dfde850f7b_1_91" title="icons8-checkmark-240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45725" y="2297950"/>
            <a:ext cx="436125" cy="43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g3dfde850f7b_1_91" title="icons8-checkmark-240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08375" y="1727200"/>
            <a:ext cx="436125" cy="43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g3dfde850f7b_1_91" title="icons8-checkmark-240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08375" y="2297950"/>
            <a:ext cx="436125" cy="43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g3dfde850f7b_1_91" title="icons8-checkmark-240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08375" y="2868712"/>
            <a:ext cx="436125" cy="43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g3dfde850f7b_1_91" title="icons8-checkmark-240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08375" y="3402050"/>
            <a:ext cx="436125" cy="43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g3dfde850f7b_1_91" title="icons8-checkmark-240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08375" y="3935400"/>
            <a:ext cx="436125" cy="43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g3dfde850f7b_1_91" title="icons8-checkmark-240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06450" y="1727200"/>
            <a:ext cx="436125" cy="43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g3dfde850f7b_1_42" title="IMG_3517.PNG"/>
          <p:cNvPicPr preferRelativeResize="0"/>
          <p:nvPr/>
        </p:nvPicPr>
        <p:blipFill rotWithShape="1">
          <a:blip r:embed="rId3">
            <a:alphaModFix/>
          </a:blip>
          <a:srcRect b="0" l="42308" r="6651" t="0"/>
          <a:stretch/>
        </p:blipFill>
        <p:spPr>
          <a:xfrm>
            <a:off x="4476750" y="0"/>
            <a:ext cx="466725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g3dfde850f7b_1_42"/>
          <p:cNvSpPr/>
          <p:nvPr/>
        </p:nvSpPr>
        <p:spPr>
          <a:xfrm>
            <a:off x="243450" y="182871"/>
            <a:ext cx="4206300" cy="13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ts val="3600"/>
              <a:buFont typeface="Arial Black"/>
              <a:buNone/>
            </a:pPr>
            <a:r>
              <a:rPr lang="en-US" sz="3600">
                <a:solidFill>
                  <a:srgbClr val="F8F8F8"/>
                </a:solidFill>
                <a:latin typeface="Archivo Light"/>
                <a:ea typeface="Archivo Light"/>
                <a:cs typeface="Archivo Light"/>
                <a:sym typeface="Archivo Light"/>
              </a:rPr>
              <a:t>target</a:t>
            </a:r>
            <a:r>
              <a:rPr b="1" lang="en-US" sz="3600">
                <a:solidFill>
                  <a:srgbClr val="F8F8F8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1" lang="en-US" sz="5200">
                <a:solidFill>
                  <a:srgbClr val="F8F8F8"/>
                </a:solidFill>
                <a:latin typeface="Arial Black"/>
                <a:ea typeface="Arial Black"/>
                <a:cs typeface="Arial Black"/>
                <a:sym typeface="Arial Black"/>
              </a:rPr>
              <a:t>Audience</a:t>
            </a:r>
            <a:endParaRPr b="0" i="1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g3dfde850f7b_1_42"/>
          <p:cNvSpPr txBox="1"/>
          <p:nvPr/>
        </p:nvSpPr>
        <p:spPr>
          <a:xfrm>
            <a:off x="243450" y="1822100"/>
            <a:ext cx="32355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For people who actually use crypto daily.</a:t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Solana users</a:t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Builders and event attendees</a:t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DeFi and NFT users</a:t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Privacy-focused users</a:t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People who want self-custody without carrying a USB wallet</a:t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89" name="Google Shape;89;g3dfde850f7b_1_42" title="white_logo_without_bg..jp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73000" y="122250"/>
            <a:ext cx="436125" cy="43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e07db3f41c_0_5"/>
          <p:cNvSpPr/>
          <p:nvPr/>
        </p:nvSpPr>
        <p:spPr>
          <a:xfrm>
            <a:off x="3298500" y="150375"/>
            <a:ext cx="25470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ts val="3600"/>
              <a:buFont typeface="Arial Black"/>
              <a:buNone/>
            </a:pPr>
            <a:r>
              <a:rPr lang="en-US" sz="2300">
                <a:solidFill>
                  <a:schemeClr val="lt1"/>
                </a:solidFill>
                <a:latin typeface="Archivo Light"/>
                <a:ea typeface="Archivo Light"/>
                <a:cs typeface="Archivo Light"/>
                <a:sym typeface="Archivo Light"/>
              </a:rPr>
              <a:t>business </a:t>
            </a:r>
            <a:r>
              <a:rPr i="1" lang="en-US" sz="39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MODEL</a:t>
            </a:r>
            <a:endParaRPr i="1" sz="2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g3e07db3f41c_0_5" title="white_logo_without_bg..jp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12375" y="182875"/>
            <a:ext cx="436125" cy="43612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g3e07db3f41c_0_5"/>
          <p:cNvSpPr txBox="1"/>
          <p:nvPr/>
        </p:nvSpPr>
        <p:spPr>
          <a:xfrm>
            <a:off x="1617550" y="1292700"/>
            <a:ext cx="2762100" cy="143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4175" lIns="84175" spcFirstLastPara="1" rIns="84175" wrap="square" tIns="841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7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DEVICE SALES</a:t>
            </a:r>
            <a:endParaRPr sz="1427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l">
              <a:lnSpc>
                <a:spcPct val="103000"/>
              </a:lnSpc>
              <a:spcBef>
                <a:spcPts val="368"/>
              </a:spcBef>
              <a:spcAft>
                <a:spcPts val="0"/>
              </a:spcAft>
              <a:buNone/>
            </a:pPr>
            <a:r>
              <a:rPr b="1" lang="en-US" sz="1105">
                <a:solidFill>
                  <a:schemeClr val="lt1"/>
                </a:solidFill>
              </a:rPr>
              <a:t>Who pays: </a:t>
            </a:r>
            <a:r>
              <a:rPr lang="en-US" sz="1105">
                <a:solidFill>
                  <a:schemeClr val="lt1"/>
                </a:solidFill>
              </a:rPr>
              <a:t>end users and self-custody Solana adopters</a:t>
            </a:r>
            <a:endParaRPr sz="1105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3000"/>
              </a:lnSpc>
              <a:spcBef>
                <a:spcPts val="368"/>
              </a:spcBef>
              <a:spcAft>
                <a:spcPts val="0"/>
              </a:spcAft>
              <a:buNone/>
            </a:pPr>
            <a:r>
              <a:rPr b="1" lang="en-US" sz="1105">
                <a:solidFill>
                  <a:schemeClr val="lt1"/>
                </a:solidFill>
              </a:rPr>
              <a:t>Price: </a:t>
            </a:r>
            <a:r>
              <a:rPr lang="en-US" sz="1105">
                <a:solidFill>
                  <a:schemeClr val="lt1"/>
                </a:solidFill>
              </a:rPr>
              <a:t>$99 MSRP per device</a:t>
            </a:r>
            <a:endParaRPr sz="1105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3000"/>
              </a:lnSpc>
              <a:spcBef>
                <a:spcPts val="368"/>
              </a:spcBef>
              <a:spcAft>
                <a:spcPts val="0"/>
              </a:spcAft>
              <a:buNone/>
            </a:pPr>
            <a:r>
              <a:rPr b="1" lang="en-US" sz="1105">
                <a:solidFill>
                  <a:schemeClr val="lt1"/>
                </a:solidFill>
              </a:rPr>
              <a:t>Margin: </a:t>
            </a:r>
            <a:r>
              <a:rPr lang="en-US" sz="1105">
                <a:solidFill>
                  <a:schemeClr val="lt1"/>
                </a:solidFill>
              </a:rPr>
              <a:t>40-45% pilot; 55%+ target at scale</a:t>
            </a:r>
            <a:endParaRPr sz="1105">
              <a:solidFill>
                <a:schemeClr val="lt1"/>
              </a:solidFill>
            </a:endParaRPr>
          </a:p>
        </p:txBody>
      </p:sp>
      <p:sp>
        <p:nvSpPr>
          <p:cNvPr id="98" name="Google Shape;98;g3e07db3f41c_0_5"/>
          <p:cNvSpPr txBox="1"/>
          <p:nvPr/>
        </p:nvSpPr>
        <p:spPr>
          <a:xfrm>
            <a:off x="4764362" y="1292700"/>
            <a:ext cx="2762100" cy="143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4175" lIns="84175" spcFirstLastPara="1" rIns="84175" wrap="square" tIns="841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7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EVENT / MERCHANT KITS</a:t>
            </a:r>
            <a:endParaRPr sz="1427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l">
              <a:lnSpc>
                <a:spcPct val="103000"/>
              </a:lnSpc>
              <a:spcBef>
                <a:spcPts val="368"/>
              </a:spcBef>
              <a:spcAft>
                <a:spcPts val="0"/>
              </a:spcAft>
              <a:buNone/>
            </a:pPr>
            <a:r>
              <a:rPr b="1" lang="en-US" sz="1105">
                <a:solidFill>
                  <a:schemeClr val="lt1"/>
                </a:solidFill>
              </a:rPr>
              <a:t>Who pays: </a:t>
            </a:r>
            <a:r>
              <a:rPr lang="en-US" sz="1105">
                <a:solidFill>
                  <a:schemeClr val="lt1"/>
                </a:solidFill>
              </a:rPr>
              <a:t>organizers, merchants and communities</a:t>
            </a:r>
            <a:endParaRPr sz="1105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3000"/>
              </a:lnSpc>
              <a:spcBef>
                <a:spcPts val="368"/>
              </a:spcBef>
              <a:spcAft>
                <a:spcPts val="0"/>
              </a:spcAft>
              <a:buNone/>
            </a:pPr>
            <a:r>
              <a:rPr b="1" lang="en-US" sz="1105">
                <a:solidFill>
                  <a:schemeClr val="lt1"/>
                </a:solidFill>
              </a:rPr>
              <a:t>Price: </a:t>
            </a:r>
            <a:r>
              <a:rPr lang="en-US" sz="1105">
                <a:solidFill>
                  <a:schemeClr val="lt1"/>
                </a:solidFill>
              </a:rPr>
              <a:t>$250 kit + $3-5 band + $49/mo</a:t>
            </a:r>
            <a:endParaRPr sz="1105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3000"/>
              </a:lnSpc>
              <a:spcBef>
                <a:spcPts val="368"/>
              </a:spcBef>
              <a:spcAft>
                <a:spcPts val="0"/>
              </a:spcAft>
              <a:buNone/>
            </a:pPr>
            <a:r>
              <a:rPr b="1" lang="en-US" sz="1105">
                <a:solidFill>
                  <a:schemeClr val="lt1"/>
                </a:solidFill>
              </a:rPr>
              <a:t>Use case: </a:t>
            </a:r>
            <a:r>
              <a:rPr lang="en-US" sz="1105">
                <a:solidFill>
                  <a:schemeClr val="lt1"/>
                </a:solidFill>
              </a:rPr>
              <a:t>payments, access control and loyalty</a:t>
            </a:r>
            <a:endParaRPr sz="1105">
              <a:solidFill>
                <a:schemeClr val="lt1"/>
              </a:solidFill>
            </a:endParaRPr>
          </a:p>
        </p:txBody>
      </p:sp>
      <p:sp>
        <p:nvSpPr>
          <p:cNvPr id="99" name="Google Shape;99;g3e07db3f41c_0_5"/>
          <p:cNvSpPr txBox="1"/>
          <p:nvPr/>
        </p:nvSpPr>
        <p:spPr>
          <a:xfrm>
            <a:off x="1617550" y="2839361"/>
            <a:ext cx="2762100" cy="1657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4175" lIns="84175" spcFirstLastPara="1" rIns="84175" wrap="square" tIns="841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7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PREMIUM SECURITY</a:t>
            </a:r>
            <a:endParaRPr sz="1427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l">
              <a:lnSpc>
                <a:spcPct val="103000"/>
              </a:lnSpc>
              <a:spcBef>
                <a:spcPts val="368"/>
              </a:spcBef>
              <a:spcAft>
                <a:spcPts val="0"/>
              </a:spcAft>
              <a:buNone/>
            </a:pPr>
            <a:r>
              <a:rPr b="1" lang="en-US" sz="1105">
                <a:solidFill>
                  <a:schemeClr val="lt1"/>
                </a:solidFill>
              </a:rPr>
              <a:t>Who pays: </a:t>
            </a:r>
            <a:r>
              <a:rPr lang="en-US" sz="1105">
                <a:solidFill>
                  <a:schemeClr val="lt1"/>
                </a:solidFill>
              </a:rPr>
              <a:t>power users who need more than basic signing</a:t>
            </a:r>
            <a:endParaRPr sz="1105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3000"/>
              </a:lnSpc>
              <a:spcBef>
                <a:spcPts val="368"/>
              </a:spcBef>
              <a:spcAft>
                <a:spcPts val="0"/>
              </a:spcAft>
              <a:buNone/>
            </a:pPr>
            <a:r>
              <a:rPr b="1" lang="en-US" sz="1105">
                <a:solidFill>
                  <a:schemeClr val="lt1"/>
                </a:solidFill>
              </a:rPr>
              <a:t>Price: </a:t>
            </a:r>
            <a:r>
              <a:rPr lang="en-US" sz="1105">
                <a:solidFill>
                  <a:schemeClr val="lt1"/>
                </a:solidFill>
              </a:rPr>
              <a:t>$4.99/mo or $39/yr</a:t>
            </a:r>
            <a:endParaRPr sz="1105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3000"/>
              </a:lnSpc>
              <a:spcBef>
                <a:spcPts val="368"/>
              </a:spcBef>
              <a:spcAft>
                <a:spcPts val="0"/>
              </a:spcAft>
              <a:buNone/>
            </a:pPr>
            <a:r>
              <a:rPr b="1" lang="en-US" sz="1105">
                <a:solidFill>
                  <a:schemeClr val="lt1"/>
                </a:solidFill>
              </a:rPr>
              <a:t>Value: </a:t>
            </a:r>
            <a:r>
              <a:rPr lang="en-US" sz="1105">
                <a:solidFill>
                  <a:schemeClr val="lt1"/>
                </a:solidFill>
              </a:rPr>
              <a:t>scam alerts, decoded tx, limits, duress controls</a:t>
            </a:r>
            <a:endParaRPr sz="1105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3000"/>
              </a:lnSpc>
              <a:spcBef>
                <a:spcPts val="368"/>
              </a:spcBef>
              <a:spcAft>
                <a:spcPts val="0"/>
              </a:spcAft>
              <a:buNone/>
            </a:pPr>
            <a:r>
              <a:t/>
            </a:r>
            <a:endParaRPr sz="1105">
              <a:solidFill>
                <a:schemeClr val="lt1"/>
              </a:solidFill>
            </a:endParaRPr>
          </a:p>
        </p:txBody>
      </p:sp>
      <p:sp>
        <p:nvSpPr>
          <p:cNvPr id="100" name="Google Shape;100;g3e07db3f41c_0_5"/>
          <p:cNvSpPr txBox="1"/>
          <p:nvPr/>
        </p:nvSpPr>
        <p:spPr>
          <a:xfrm>
            <a:off x="4764361" y="2824307"/>
            <a:ext cx="2762100" cy="1687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4175" lIns="84175" spcFirstLastPara="1" rIns="84175" wrap="square" tIns="841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7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SDK / API + INTEGRATIONS</a:t>
            </a:r>
            <a:endParaRPr sz="1427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l">
              <a:lnSpc>
                <a:spcPct val="103000"/>
              </a:lnSpc>
              <a:spcBef>
                <a:spcPts val="368"/>
              </a:spcBef>
              <a:spcAft>
                <a:spcPts val="0"/>
              </a:spcAft>
              <a:buNone/>
            </a:pPr>
            <a:r>
              <a:rPr b="1" lang="en-US" sz="1105">
                <a:solidFill>
                  <a:schemeClr val="lt1"/>
                </a:solidFill>
              </a:rPr>
              <a:t>Who pays: </a:t>
            </a:r>
            <a:r>
              <a:rPr lang="en-US" sz="1105">
                <a:solidFill>
                  <a:schemeClr val="lt1"/>
                </a:solidFill>
              </a:rPr>
              <a:t>wallets, dApps and payment partners</a:t>
            </a:r>
            <a:endParaRPr sz="1105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3000"/>
              </a:lnSpc>
              <a:spcBef>
                <a:spcPts val="368"/>
              </a:spcBef>
              <a:spcAft>
                <a:spcPts val="0"/>
              </a:spcAft>
              <a:buNone/>
            </a:pPr>
            <a:r>
              <a:rPr b="1" lang="en-US" sz="1105">
                <a:solidFill>
                  <a:schemeClr val="lt1"/>
                </a:solidFill>
              </a:rPr>
              <a:t>Price: </a:t>
            </a:r>
            <a:r>
              <a:rPr lang="en-US" sz="1105">
                <a:solidFill>
                  <a:schemeClr val="lt1"/>
                </a:solidFill>
              </a:rPr>
              <a:t>$500-1,500/mo + setup fee</a:t>
            </a:r>
            <a:endParaRPr sz="1105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3000"/>
              </a:lnSpc>
              <a:spcBef>
                <a:spcPts val="368"/>
              </a:spcBef>
              <a:spcAft>
                <a:spcPts val="0"/>
              </a:spcAft>
              <a:buNone/>
            </a:pPr>
            <a:r>
              <a:rPr b="1" lang="en-US" sz="1105">
                <a:solidFill>
                  <a:schemeClr val="lt1"/>
                </a:solidFill>
              </a:rPr>
              <a:t>Value: </a:t>
            </a:r>
            <a:r>
              <a:rPr lang="en-US" sz="1105">
                <a:solidFill>
                  <a:schemeClr val="lt1"/>
                </a:solidFill>
              </a:rPr>
              <a:t>POS SDK, white-label and merchant integrations</a:t>
            </a:r>
            <a:endParaRPr sz="1105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fde850f7b_1_60"/>
          <p:cNvSpPr/>
          <p:nvPr/>
        </p:nvSpPr>
        <p:spPr>
          <a:xfrm>
            <a:off x="313250" y="182875"/>
            <a:ext cx="6349500" cy="6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ts val="3600"/>
              <a:buFont typeface="Arial Black"/>
              <a:buNone/>
            </a:pPr>
            <a:r>
              <a:rPr lang="en-US" sz="3600">
                <a:solidFill>
                  <a:srgbClr val="F8F8F8"/>
                </a:solidFill>
                <a:latin typeface="Archivo Light"/>
                <a:ea typeface="Archivo Light"/>
                <a:cs typeface="Archivo Light"/>
                <a:sym typeface="Archivo Light"/>
              </a:rPr>
              <a:t>traction &amp; </a:t>
            </a:r>
            <a:r>
              <a:rPr b="1" i="1" lang="en-US" sz="5200">
                <a:solidFill>
                  <a:srgbClr val="F8F8F8"/>
                </a:solidFill>
                <a:latin typeface="Arial Black"/>
                <a:ea typeface="Arial Black"/>
                <a:cs typeface="Arial Black"/>
                <a:sym typeface="Arial Black"/>
              </a:rPr>
              <a:t>roadMAP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ts val="3600"/>
              <a:buFont typeface="Arial Black"/>
              <a:buNone/>
            </a:pPr>
            <a:r>
              <a:t/>
            </a:r>
            <a:endParaRPr sz="3600">
              <a:solidFill>
                <a:srgbClr val="F8F8F8"/>
              </a:solidFill>
              <a:latin typeface="Archivo Light"/>
              <a:ea typeface="Archivo Light"/>
              <a:cs typeface="Archivo Light"/>
              <a:sym typeface="Archivo Light"/>
            </a:endParaRPr>
          </a:p>
        </p:txBody>
      </p:sp>
      <p:pic>
        <p:nvPicPr>
          <p:cNvPr id="107" name="Google Shape;107;g3dfde850f7b_1_60" title="white_logo_without_bg..jp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12375" y="182875"/>
            <a:ext cx="436125" cy="4361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g3dfde850f7b_1_60"/>
          <p:cNvSpPr txBox="1"/>
          <p:nvPr/>
        </p:nvSpPr>
        <p:spPr>
          <a:xfrm>
            <a:off x="282050" y="1545500"/>
            <a:ext cx="2943600" cy="26103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8F8F8"/>
                </a:solidFill>
                <a:latin typeface="Archivo"/>
                <a:ea typeface="Archivo"/>
                <a:cs typeface="Archivo"/>
                <a:sym typeface="Archivo"/>
              </a:rPr>
              <a:t>Core product milestones</a:t>
            </a:r>
            <a:endParaRPr b="1" sz="1600">
              <a:solidFill>
                <a:srgbClr val="F8F8F8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8F8F8"/>
                </a:solidFill>
                <a:latin typeface="Archivo"/>
                <a:ea typeface="Archivo"/>
                <a:cs typeface="Archivo"/>
                <a:sym typeface="Archivo"/>
              </a:rPr>
              <a:t>Working prototype completed</a:t>
            </a:r>
            <a:endParaRPr sz="1300">
              <a:solidFill>
                <a:srgbClr val="F8F8F8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8F8F8"/>
                </a:solidFill>
                <a:latin typeface="Archivo"/>
                <a:ea typeface="Archivo"/>
                <a:cs typeface="Archivo"/>
                <a:sym typeface="Archivo"/>
              </a:rPr>
              <a:t>End-to-end Solana transaction signing</a:t>
            </a:r>
            <a:endParaRPr sz="1300">
              <a:solidFill>
                <a:srgbClr val="F8F8F8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8F8F8"/>
                </a:solidFill>
                <a:latin typeface="Archivo"/>
                <a:ea typeface="Archivo"/>
                <a:cs typeface="Archivo"/>
                <a:sym typeface="Archivo"/>
              </a:rPr>
              <a:t>NFC / Blinks payment flow in place</a:t>
            </a:r>
            <a:endParaRPr sz="1300">
              <a:solidFill>
                <a:srgbClr val="F8F8F8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8F8F8"/>
                </a:solidFill>
                <a:latin typeface="Archivo"/>
                <a:ea typeface="Archivo"/>
                <a:cs typeface="Archivo"/>
                <a:sym typeface="Archivo"/>
              </a:rPr>
              <a:t>Wallet generation and import implemented</a:t>
            </a:r>
            <a:endParaRPr sz="1300">
              <a:solidFill>
                <a:srgbClr val="F8F8F8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8F8F8"/>
                </a:solidFill>
                <a:latin typeface="Archivo"/>
                <a:ea typeface="Archivo"/>
                <a:cs typeface="Archivo"/>
                <a:sym typeface="Archivo"/>
              </a:rPr>
              <a:t>Human-readable approval screen on device</a:t>
            </a:r>
            <a:endParaRPr sz="1300">
              <a:solidFill>
                <a:srgbClr val="F8F8F8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8F8F8"/>
                </a:solidFill>
                <a:latin typeface="Archivo"/>
                <a:ea typeface="Archivo"/>
                <a:cs typeface="Archivo"/>
                <a:sym typeface="Archivo"/>
              </a:rPr>
              <a:t>Offline signing: the key never leaves SolWear</a:t>
            </a:r>
            <a:endParaRPr sz="1300">
              <a:solidFill>
                <a:srgbClr val="F8F8F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9" name="Google Shape;109;g3dfde850f7b_1_60"/>
          <p:cNvSpPr txBox="1"/>
          <p:nvPr/>
        </p:nvSpPr>
        <p:spPr>
          <a:xfrm>
            <a:off x="3563475" y="1545500"/>
            <a:ext cx="1356600" cy="1610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8F8F8"/>
                </a:solidFill>
                <a:latin typeface="Archivo"/>
                <a:ea typeface="Archivo"/>
                <a:cs typeface="Archivo"/>
                <a:sym typeface="Archivo"/>
              </a:rPr>
              <a:t>0–3 months</a:t>
            </a:r>
            <a:endParaRPr b="1">
              <a:solidFill>
                <a:srgbClr val="F8F8F8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8F8F8"/>
                </a:solidFill>
                <a:latin typeface="Archivo"/>
                <a:ea typeface="Archivo"/>
                <a:cs typeface="Archivo"/>
                <a:sym typeface="Archivo"/>
              </a:rPr>
              <a:t>Duress PIN</a:t>
            </a:r>
            <a:endParaRPr sz="1200">
              <a:solidFill>
                <a:srgbClr val="F8F8F8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8F8F8"/>
                </a:solidFill>
                <a:latin typeface="Archivo"/>
                <a:ea typeface="Archivo"/>
                <a:cs typeface="Archivo"/>
                <a:sym typeface="Archivo"/>
              </a:rPr>
              <a:t>Panic mode</a:t>
            </a:r>
            <a:endParaRPr sz="1200">
              <a:solidFill>
                <a:srgbClr val="F8F8F8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8F8F8"/>
                </a:solidFill>
                <a:latin typeface="Archivo"/>
                <a:ea typeface="Archivo"/>
                <a:cs typeface="Archivo"/>
                <a:sym typeface="Archivo"/>
              </a:rPr>
              <a:t>Scam-address alerts</a:t>
            </a:r>
            <a:endParaRPr sz="1200">
              <a:solidFill>
                <a:srgbClr val="F8F8F8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8F8F8"/>
                </a:solidFill>
                <a:latin typeface="Archivo"/>
                <a:ea typeface="Archivo"/>
                <a:cs typeface="Archivo"/>
                <a:sym typeface="Archivo"/>
              </a:rPr>
              <a:t>Improved wearable design</a:t>
            </a:r>
            <a:endParaRPr sz="1200">
              <a:solidFill>
                <a:srgbClr val="F8F8F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0" name="Google Shape;110;g3dfde850f7b_1_60"/>
          <p:cNvSpPr txBox="1"/>
          <p:nvPr/>
        </p:nvSpPr>
        <p:spPr>
          <a:xfrm>
            <a:off x="5069700" y="1545500"/>
            <a:ext cx="1743900" cy="1233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8F8F8"/>
                </a:solidFill>
                <a:latin typeface="Archivo"/>
                <a:ea typeface="Archivo"/>
                <a:cs typeface="Archivo"/>
                <a:sym typeface="Archivo"/>
              </a:rPr>
              <a:t>3–6 months</a:t>
            </a:r>
            <a:endParaRPr b="1">
              <a:solidFill>
                <a:srgbClr val="F8F8F8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8F8F8"/>
                </a:solidFill>
                <a:latin typeface="Archivo"/>
                <a:ea typeface="Archivo"/>
                <a:cs typeface="Archivo"/>
                <a:sym typeface="Archivo"/>
              </a:rPr>
              <a:t>Beta with Solana users</a:t>
            </a:r>
            <a:endParaRPr sz="1200">
              <a:solidFill>
                <a:srgbClr val="F8F8F8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8F8F8"/>
                </a:solidFill>
                <a:latin typeface="Archivo"/>
                <a:ea typeface="Archivo"/>
                <a:cs typeface="Archivo"/>
                <a:sym typeface="Archivo"/>
              </a:rPr>
              <a:t>Security review</a:t>
            </a:r>
            <a:endParaRPr sz="1200">
              <a:solidFill>
                <a:srgbClr val="F8F8F8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8F8F8"/>
                </a:solidFill>
                <a:latin typeface="Archivo"/>
                <a:ea typeface="Archivo"/>
                <a:cs typeface="Archivo"/>
                <a:sym typeface="Archivo"/>
              </a:rPr>
              <a:t>dApp integrations</a:t>
            </a:r>
            <a:endParaRPr sz="1200">
              <a:solidFill>
                <a:srgbClr val="F8F8F8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8F8F8"/>
                </a:solidFill>
                <a:latin typeface="Archivo"/>
                <a:ea typeface="Archivo"/>
                <a:cs typeface="Archivo"/>
                <a:sym typeface="Archivo"/>
              </a:rPr>
              <a:t>Merchant integrations</a:t>
            </a:r>
            <a:endParaRPr sz="1200">
              <a:solidFill>
                <a:srgbClr val="F8F8F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1" name="Google Shape;111;g3dfde850f7b_1_60"/>
          <p:cNvSpPr txBox="1"/>
          <p:nvPr/>
        </p:nvSpPr>
        <p:spPr>
          <a:xfrm>
            <a:off x="6952275" y="1545500"/>
            <a:ext cx="1860600" cy="1610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8F8F8"/>
                </a:solidFill>
                <a:latin typeface="Archivo"/>
                <a:ea typeface="Archivo"/>
                <a:cs typeface="Archivo"/>
                <a:sym typeface="Archivo"/>
              </a:rPr>
              <a:t>6–9 months</a:t>
            </a:r>
            <a:endParaRPr b="1">
              <a:solidFill>
                <a:srgbClr val="F8F8F8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8F8F8"/>
                </a:solidFill>
                <a:latin typeface="Archivo"/>
                <a:ea typeface="Archivo"/>
                <a:cs typeface="Archivo"/>
                <a:sym typeface="Archivo"/>
              </a:rPr>
              <a:t>Small production batch</a:t>
            </a:r>
            <a:endParaRPr sz="1200">
              <a:solidFill>
                <a:srgbClr val="F8F8F8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8F8F8"/>
                </a:solidFill>
                <a:latin typeface="Archivo"/>
                <a:ea typeface="Archivo"/>
                <a:cs typeface="Archivo"/>
                <a:sym typeface="Archivo"/>
              </a:rPr>
              <a:t>Event payment pilots</a:t>
            </a:r>
            <a:endParaRPr sz="1200">
              <a:solidFill>
                <a:srgbClr val="F8F8F8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8F8F8"/>
                </a:solidFill>
                <a:latin typeface="Archivo"/>
                <a:ea typeface="Archivo"/>
                <a:cs typeface="Archivo"/>
                <a:sym typeface="Archivo"/>
              </a:rPr>
              <a:t>Loyalty / identity use cases</a:t>
            </a:r>
            <a:endParaRPr sz="1200">
              <a:solidFill>
                <a:srgbClr val="F8F8F8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8F8F8"/>
                </a:solidFill>
                <a:latin typeface="Archivo"/>
                <a:ea typeface="Archivo"/>
                <a:cs typeface="Archivo"/>
                <a:sym typeface="Archivo"/>
              </a:rPr>
              <a:t>Real-world pilot readiness</a:t>
            </a:r>
            <a:endParaRPr sz="1200">
              <a:solidFill>
                <a:srgbClr val="F8F8F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2" name="Google Shape;112;g3dfde850f7b_1_60"/>
          <p:cNvSpPr txBox="1"/>
          <p:nvPr/>
        </p:nvSpPr>
        <p:spPr>
          <a:xfrm>
            <a:off x="253850" y="114792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8F8F8"/>
                </a:solidFill>
                <a:latin typeface="Archivo"/>
                <a:ea typeface="Archivo"/>
                <a:cs typeface="Archivo"/>
                <a:sym typeface="Archivo"/>
              </a:rPr>
              <a:t>BUILT TODAY</a:t>
            </a:r>
            <a:endParaRPr b="1" sz="1200">
              <a:solidFill>
                <a:srgbClr val="F8F8F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3" name="Google Shape;113;g3dfde850f7b_1_60"/>
          <p:cNvSpPr txBox="1"/>
          <p:nvPr/>
        </p:nvSpPr>
        <p:spPr>
          <a:xfrm>
            <a:off x="3563475" y="114792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8F8F8"/>
                </a:solidFill>
                <a:latin typeface="Archivo"/>
                <a:ea typeface="Archivo"/>
                <a:cs typeface="Archivo"/>
                <a:sym typeface="Archivo"/>
              </a:rPr>
              <a:t>NEXT MILESTONES</a:t>
            </a:r>
            <a:endParaRPr b="1" sz="1200">
              <a:solidFill>
                <a:srgbClr val="F8F8F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e0b9255965_0_58"/>
          <p:cNvSpPr/>
          <p:nvPr/>
        </p:nvSpPr>
        <p:spPr>
          <a:xfrm>
            <a:off x="2697600" y="182875"/>
            <a:ext cx="37488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ts val="3600"/>
              <a:buFont typeface="Arial Black"/>
              <a:buNone/>
            </a:pPr>
            <a:r>
              <a:rPr lang="en-US" sz="2300">
                <a:solidFill>
                  <a:schemeClr val="lt1"/>
                </a:solidFill>
                <a:latin typeface="Archivo Light"/>
                <a:ea typeface="Archivo Light"/>
                <a:cs typeface="Archivo Light"/>
                <a:sym typeface="Archivo Light"/>
              </a:rPr>
              <a:t>market</a:t>
            </a:r>
            <a:r>
              <a:rPr lang="en-US" sz="2300">
                <a:solidFill>
                  <a:schemeClr val="lt1"/>
                </a:solidFill>
                <a:latin typeface="Archivo Light"/>
                <a:ea typeface="Archivo Light"/>
                <a:cs typeface="Archivo Light"/>
                <a:sym typeface="Archivo Light"/>
              </a:rPr>
              <a:t> </a:t>
            </a:r>
            <a:r>
              <a:rPr i="1" lang="en-US" sz="39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Opportunity</a:t>
            </a:r>
            <a:endParaRPr i="1" sz="2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g3e0b9255965_0_58" title="white_logo_without_bg..jp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12375" y="182875"/>
            <a:ext cx="436125" cy="43612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g3e0b9255965_0_58"/>
          <p:cNvSpPr txBox="1"/>
          <p:nvPr/>
        </p:nvSpPr>
        <p:spPr>
          <a:xfrm>
            <a:off x="695500" y="2987113"/>
            <a:ext cx="2181600" cy="1426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4175" lIns="84175" spcFirstLastPara="1" rIns="84175" wrap="square" tIns="84175">
            <a:spAutoFit/>
          </a:bodyPr>
          <a:lstStyle/>
          <a:p>
            <a:pPr indent="0" lvl="0" marL="0" rtl="0" algn="l">
              <a:lnSpc>
                <a:spcPct val="103000"/>
              </a:lnSpc>
              <a:spcBef>
                <a:spcPts val="368"/>
              </a:spcBef>
              <a:spcAft>
                <a:spcPts val="0"/>
              </a:spcAft>
              <a:buNone/>
            </a:pPr>
            <a:r>
              <a:rPr lang="en-US" sz="1227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TAM:</a:t>
            </a:r>
            <a:endParaRPr sz="1227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l">
              <a:lnSpc>
                <a:spcPct val="103000"/>
              </a:lnSpc>
              <a:spcBef>
                <a:spcPts val="368"/>
              </a:spcBef>
              <a:spcAft>
                <a:spcPts val="0"/>
              </a:spcAft>
              <a:buNone/>
            </a:pPr>
            <a:r>
              <a:rPr lang="en-US" sz="1227">
                <a:solidFill>
                  <a:schemeClr val="lt1"/>
                </a:solidFill>
              </a:rPr>
              <a:t>50M monthly active Solana addresses → ≈14.3M active user-equivalent</a:t>
            </a:r>
            <a:endParaRPr sz="1227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3000"/>
              </a:lnSpc>
              <a:spcBef>
                <a:spcPts val="368"/>
              </a:spcBef>
              <a:spcAft>
                <a:spcPts val="0"/>
              </a:spcAft>
              <a:buNone/>
            </a:pPr>
            <a:r>
              <a:rPr lang="en-US" sz="1227">
                <a:solidFill>
                  <a:schemeClr val="lt1"/>
                </a:solidFill>
              </a:rPr>
              <a:t>≈$1.4B device TAM + ≈$857M premium app ARR</a:t>
            </a:r>
            <a:endParaRPr sz="1227">
              <a:solidFill>
                <a:schemeClr val="lt1"/>
              </a:solidFill>
            </a:endParaRPr>
          </a:p>
        </p:txBody>
      </p:sp>
      <p:sp>
        <p:nvSpPr>
          <p:cNvPr id="122" name="Google Shape;122;g3e0b9255965_0_58"/>
          <p:cNvSpPr txBox="1"/>
          <p:nvPr/>
        </p:nvSpPr>
        <p:spPr>
          <a:xfrm>
            <a:off x="3049725" y="2668975"/>
            <a:ext cx="2964900" cy="1210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4175" lIns="84175" spcFirstLastPara="1" rIns="84175" wrap="square" tIns="84175">
            <a:spAutoFit/>
          </a:bodyPr>
          <a:lstStyle/>
          <a:p>
            <a:pPr indent="0" lvl="0" marL="0" rtl="0" algn="l">
              <a:lnSpc>
                <a:spcPct val="103000"/>
              </a:lnSpc>
              <a:spcBef>
                <a:spcPts val="368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SAM:</a:t>
            </a:r>
            <a:endParaRPr sz="120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l">
              <a:lnSpc>
                <a:spcPct val="103000"/>
              </a:lnSpc>
              <a:spcBef>
                <a:spcPts val="368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</a:rPr>
              <a:t>8.3M </a:t>
            </a:r>
            <a:r>
              <a:rPr lang="en-US" sz="1200">
                <a:solidFill>
                  <a:schemeClr val="lt1"/>
                </a:solidFill>
              </a:rPr>
              <a:t>weekly active Solana addresses → ≈2.4M engaged user-equivalent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3000"/>
              </a:lnSpc>
              <a:spcBef>
                <a:spcPts val="368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</a:rPr>
              <a:t>≈$236M serviceable device market + ≈$143M app ARR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23" name="Google Shape;123;g3e0b9255965_0_58"/>
          <p:cNvSpPr txBox="1"/>
          <p:nvPr/>
        </p:nvSpPr>
        <p:spPr>
          <a:xfrm>
            <a:off x="6222250" y="2940525"/>
            <a:ext cx="2340300" cy="1447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4175" lIns="84175" spcFirstLastPara="1" rIns="84175" wrap="square" tIns="84175">
            <a:spAutoFit/>
          </a:bodyPr>
          <a:lstStyle/>
          <a:p>
            <a:pPr indent="0" lvl="0" marL="0" rtl="0" algn="l">
              <a:lnSpc>
                <a:spcPct val="103000"/>
              </a:lnSpc>
              <a:spcBef>
                <a:spcPts val="368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SOM:</a:t>
            </a:r>
            <a:endParaRPr sz="120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l">
              <a:lnSpc>
                <a:spcPct val="103000"/>
              </a:lnSpc>
              <a:spcBef>
                <a:spcPts val="368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</a:rPr>
              <a:t>5% SAM capture in 24 months → ≈120K devices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3000"/>
              </a:lnSpc>
              <a:spcBef>
                <a:spcPts val="368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</a:rPr>
              <a:t>≈$12M hardware revenue + ≈$2.1M premium app ARR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3000"/>
              </a:lnSpc>
              <a:spcBef>
                <a:spcPts val="368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24" name="Google Shape;124;g3e0b9255965_0_58"/>
          <p:cNvSpPr txBox="1"/>
          <p:nvPr/>
        </p:nvSpPr>
        <p:spPr>
          <a:xfrm>
            <a:off x="951000" y="4739975"/>
            <a:ext cx="7242000" cy="312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4175" lIns="84175" spcFirstLastPara="1" rIns="84175" wrap="square" tIns="84175">
            <a:spAutoFit/>
          </a:bodyPr>
          <a:lstStyle/>
          <a:p>
            <a:pPr indent="0" lvl="0" marL="0" rtl="0" algn="l">
              <a:lnSpc>
                <a:spcPct val="103000"/>
              </a:lnSpc>
              <a:spcBef>
                <a:spcPts val="368"/>
              </a:spcBef>
              <a:spcAft>
                <a:spcPts val="0"/>
              </a:spcAft>
              <a:buNone/>
            </a:pPr>
            <a:r>
              <a:rPr lang="en-US" sz="927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Core insight: </a:t>
            </a:r>
            <a:r>
              <a:rPr lang="en-US" sz="927">
                <a:solidFill>
                  <a:schemeClr val="lt1"/>
                </a:solidFill>
              </a:rPr>
              <a:t>Solana has the users and payment infrastructure. Solwear turns secure self-custody into a daily payment experience.</a:t>
            </a:r>
            <a:endParaRPr sz="927">
              <a:solidFill>
                <a:schemeClr val="lt1"/>
              </a:solidFill>
            </a:endParaRPr>
          </a:p>
        </p:txBody>
      </p:sp>
      <p:sp>
        <p:nvSpPr>
          <p:cNvPr id="125" name="Google Shape;125;g3e0b9255965_0_58"/>
          <p:cNvSpPr txBox="1"/>
          <p:nvPr/>
        </p:nvSpPr>
        <p:spPr>
          <a:xfrm>
            <a:off x="695500" y="1674650"/>
            <a:ext cx="21816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3000"/>
              </a:lnSpc>
              <a:spcBef>
                <a:spcPts val="368"/>
              </a:spcBef>
              <a:spcAft>
                <a:spcPts val="0"/>
              </a:spcAft>
              <a:buNone/>
            </a:pPr>
            <a:r>
              <a:rPr lang="en-US" sz="8000">
                <a:solidFill>
                  <a:schemeClr val="lt1"/>
                </a:solidFill>
              </a:rPr>
              <a:t>50M</a:t>
            </a:r>
            <a:r>
              <a:rPr lang="en-US" sz="3427">
                <a:solidFill>
                  <a:schemeClr val="lt1"/>
                </a:solidFill>
              </a:rPr>
              <a:t> </a:t>
            </a:r>
            <a:endParaRPr sz="3400"/>
          </a:p>
        </p:txBody>
      </p:sp>
      <p:sp>
        <p:nvSpPr>
          <p:cNvPr id="126" name="Google Shape;126;g3e0b9255965_0_58"/>
          <p:cNvSpPr txBox="1"/>
          <p:nvPr/>
        </p:nvSpPr>
        <p:spPr>
          <a:xfrm>
            <a:off x="3001650" y="1099075"/>
            <a:ext cx="31407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3000"/>
              </a:lnSpc>
              <a:spcBef>
                <a:spcPts val="368"/>
              </a:spcBef>
              <a:spcAft>
                <a:spcPts val="0"/>
              </a:spcAft>
              <a:buNone/>
            </a:pPr>
            <a:r>
              <a:rPr lang="en-US" sz="9000">
                <a:solidFill>
                  <a:schemeClr val="lt1"/>
                </a:solidFill>
              </a:rPr>
              <a:t>236</a:t>
            </a:r>
            <a:r>
              <a:rPr lang="en-US" sz="9000">
                <a:solidFill>
                  <a:schemeClr val="lt1"/>
                </a:solidFill>
              </a:rPr>
              <a:t>M </a:t>
            </a:r>
            <a:endParaRPr sz="9000"/>
          </a:p>
        </p:txBody>
      </p:sp>
      <p:sp>
        <p:nvSpPr>
          <p:cNvPr id="127" name="Google Shape;127;g3e0b9255965_0_58"/>
          <p:cNvSpPr txBox="1"/>
          <p:nvPr/>
        </p:nvSpPr>
        <p:spPr>
          <a:xfrm>
            <a:off x="6222250" y="1674650"/>
            <a:ext cx="21816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3000"/>
              </a:lnSpc>
              <a:spcBef>
                <a:spcPts val="368"/>
              </a:spcBef>
              <a:spcAft>
                <a:spcPts val="0"/>
              </a:spcAft>
              <a:buNone/>
            </a:pPr>
            <a:r>
              <a:rPr lang="en-US" sz="8000">
                <a:solidFill>
                  <a:schemeClr val="lt1"/>
                </a:solidFill>
              </a:rPr>
              <a:t>12</a:t>
            </a:r>
            <a:r>
              <a:rPr lang="en-US" sz="8000">
                <a:solidFill>
                  <a:schemeClr val="lt1"/>
                </a:solidFill>
              </a:rPr>
              <a:t>M</a:t>
            </a:r>
            <a:r>
              <a:rPr lang="en-US" sz="3427">
                <a:solidFill>
                  <a:schemeClr val="lt1"/>
                </a:solidFill>
              </a:rPr>
              <a:t> </a:t>
            </a:r>
            <a:endParaRPr sz="3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"/>
          <p:cNvSpPr/>
          <p:nvPr/>
        </p:nvSpPr>
        <p:spPr>
          <a:xfrm>
            <a:off x="3207000" y="327873"/>
            <a:ext cx="2730000" cy="6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ts val="3600"/>
              <a:buFont typeface="Arial Black"/>
              <a:buNone/>
            </a:pPr>
            <a:r>
              <a:rPr i="1" lang="en-US" sz="2700">
                <a:solidFill>
                  <a:srgbClr val="F8F8F8"/>
                </a:solidFill>
                <a:latin typeface="Archivo Light"/>
                <a:ea typeface="Archivo Light"/>
                <a:cs typeface="Archivo Light"/>
                <a:sym typeface="Archivo Light"/>
              </a:rPr>
              <a:t>the</a:t>
            </a:r>
            <a:r>
              <a:rPr b="1" lang="en-US" sz="2700">
                <a:solidFill>
                  <a:srgbClr val="F8F8F8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n-US" sz="4300">
                <a:solidFill>
                  <a:srgbClr val="F8F8F8"/>
                </a:solidFill>
                <a:latin typeface="Arial Black"/>
                <a:ea typeface="Arial Black"/>
                <a:cs typeface="Arial Black"/>
                <a:sym typeface="Arial Black"/>
              </a:rPr>
              <a:t>TEAM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 txBox="1"/>
          <p:nvPr/>
        </p:nvSpPr>
        <p:spPr>
          <a:xfrm>
            <a:off x="646825" y="3299000"/>
            <a:ext cx="1819200" cy="1302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9600" lIns="69600" spcFirstLastPara="1" rIns="69600" wrap="square" tIns="69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8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Khabib</a:t>
            </a:r>
            <a:endParaRPr sz="198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050">
                <a:solidFill>
                  <a:srgbClr val="FFFFFF"/>
                </a:solidFill>
              </a:rPr>
              <a:t>CEO</a:t>
            </a:r>
            <a:endParaRPr i="1" sz="105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</a:rPr>
              <a:t>Product, Design &amp; Systems</a:t>
            </a:r>
            <a:endParaRPr sz="105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FFFFFF"/>
                </a:solidFill>
              </a:rPr>
              <a:t>Turns emerging tech into scalable products</a:t>
            </a:r>
            <a:endParaRPr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66">
              <a:solidFill>
                <a:schemeClr val="lt1"/>
              </a:solidFill>
              <a:latin typeface="Archivo Light"/>
              <a:ea typeface="Archivo Light"/>
              <a:cs typeface="Archivo Light"/>
              <a:sym typeface="Archivo Light"/>
            </a:endParaRPr>
          </a:p>
        </p:txBody>
      </p:sp>
      <p:sp>
        <p:nvSpPr>
          <p:cNvPr id="135" name="Google Shape;135;p7"/>
          <p:cNvSpPr txBox="1"/>
          <p:nvPr/>
        </p:nvSpPr>
        <p:spPr>
          <a:xfrm>
            <a:off x="2657075" y="3299000"/>
            <a:ext cx="1819200" cy="1302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9600" lIns="69600" spcFirstLastPara="1" rIns="69600" wrap="square" tIns="69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8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Vitalii</a:t>
            </a:r>
            <a:endParaRPr sz="198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050">
                <a:solidFill>
                  <a:srgbClr val="FFFFFF"/>
                </a:solidFill>
              </a:rPr>
              <a:t>CTO</a:t>
            </a:r>
            <a:endParaRPr i="1" sz="105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</a:rPr>
              <a:t>Cybersecurity &amp; Hardware</a:t>
            </a:r>
            <a:endParaRPr sz="105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FFFFFF"/>
                </a:solidFill>
              </a:rPr>
              <a:t>Finds vulnerabilities and builds secure architecture</a:t>
            </a:r>
            <a:endParaRPr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66">
              <a:solidFill>
                <a:schemeClr val="lt1"/>
              </a:solidFill>
              <a:latin typeface="Archivo Light"/>
              <a:ea typeface="Archivo Light"/>
              <a:cs typeface="Archivo Light"/>
              <a:sym typeface="Archivo Light"/>
            </a:endParaRPr>
          </a:p>
        </p:txBody>
      </p:sp>
      <p:pic>
        <p:nvPicPr>
          <p:cNvPr id="136" name="Google Shape;136;p7"/>
          <p:cNvPicPr preferRelativeResize="0"/>
          <p:nvPr/>
        </p:nvPicPr>
        <p:blipFill rotWithShape="1">
          <a:blip r:embed="rId4">
            <a:alphaModFix/>
          </a:blip>
          <a:srcRect b="0" l="0" r="0" t="21796"/>
          <a:stretch/>
        </p:blipFill>
        <p:spPr>
          <a:xfrm>
            <a:off x="4667347" y="1142375"/>
            <a:ext cx="1819310" cy="2110307"/>
          </a:xfrm>
          <a:prstGeom prst="rect">
            <a:avLst/>
          </a:prstGeom>
          <a:noFill/>
          <a:ln cap="flat" cmpd="sng" w="72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7" name="Google Shape;137;p7"/>
          <p:cNvSpPr txBox="1"/>
          <p:nvPr/>
        </p:nvSpPr>
        <p:spPr>
          <a:xfrm>
            <a:off x="4667450" y="3299000"/>
            <a:ext cx="1819200" cy="1302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9600" lIns="69600" spcFirstLastPara="1" rIns="69600" wrap="square" tIns="69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8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Denis</a:t>
            </a:r>
            <a:endParaRPr sz="198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050">
                <a:solidFill>
                  <a:srgbClr val="FFFFFF"/>
                </a:solidFill>
              </a:rPr>
              <a:t>Software Engineer</a:t>
            </a:r>
            <a:endParaRPr i="1" sz="105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</a:rPr>
              <a:t>Serial builder behind multiple startups</a:t>
            </a:r>
            <a:endParaRPr sz="105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FFFFFF"/>
                </a:solidFill>
              </a:rPr>
              <a:t>Delivers reliable production systems</a:t>
            </a:r>
            <a:endParaRPr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66">
              <a:solidFill>
                <a:schemeClr val="lt1"/>
              </a:solidFill>
              <a:latin typeface="Archivo Light"/>
              <a:ea typeface="Archivo Light"/>
              <a:cs typeface="Archivo Light"/>
              <a:sym typeface="Archivo Light"/>
            </a:endParaRPr>
          </a:p>
        </p:txBody>
      </p:sp>
      <p:pic>
        <p:nvPicPr>
          <p:cNvPr id="138" name="Google Shape;138;p7"/>
          <p:cNvPicPr preferRelativeResize="0"/>
          <p:nvPr/>
        </p:nvPicPr>
        <p:blipFill rotWithShape="1">
          <a:blip r:embed="rId5">
            <a:alphaModFix/>
          </a:blip>
          <a:srcRect b="38624" l="0" r="0" t="0"/>
          <a:stretch/>
        </p:blipFill>
        <p:spPr>
          <a:xfrm>
            <a:off x="2657087" y="1142375"/>
            <a:ext cx="1819271" cy="2110305"/>
          </a:xfrm>
          <a:prstGeom prst="rect">
            <a:avLst/>
          </a:prstGeom>
          <a:noFill/>
          <a:ln cap="flat" cmpd="sng" w="72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9" name="Google Shape;139;p7"/>
          <p:cNvPicPr preferRelativeResize="0"/>
          <p:nvPr/>
        </p:nvPicPr>
        <p:blipFill rotWithShape="1">
          <a:blip r:embed="rId6">
            <a:alphaModFix/>
          </a:blip>
          <a:srcRect b="0" l="0" r="0" t="10104"/>
          <a:stretch/>
        </p:blipFill>
        <p:spPr>
          <a:xfrm>
            <a:off x="646826" y="1142375"/>
            <a:ext cx="1819273" cy="2110305"/>
          </a:xfrm>
          <a:prstGeom prst="rect">
            <a:avLst/>
          </a:prstGeom>
          <a:noFill/>
          <a:ln cap="flat" cmpd="sng" w="72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0" name="Google Shape;140;p7" title="white_logo_without_bg..jp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12375" y="182875"/>
            <a:ext cx="436125" cy="4361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7"/>
          <p:cNvSpPr txBox="1"/>
          <p:nvPr/>
        </p:nvSpPr>
        <p:spPr>
          <a:xfrm>
            <a:off x="6677900" y="3299000"/>
            <a:ext cx="1819200" cy="1302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9600" lIns="69600" spcFirstLastPara="1" rIns="69600" wrap="square" tIns="69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8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Serhii</a:t>
            </a:r>
            <a:endParaRPr sz="198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050">
                <a:solidFill>
                  <a:srgbClr val="FFFFFF"/>
                </a:solidFill>
              </a:rPr>
              <a:t>Mentor | Software Engineer</a:t>
            </a:r>
            <a:endParaRPr i="1" sz="105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</a:rPr>
              <a:t>15+ years in development</a:t>
            </a:r>
            <a:endParaRPr sz="105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FFFFFF"/>
                </a:solidFill>
              </a:rPr>
              <a:t>Builds execution and investor-ready positioning</a:t>
            </a:r>
            <a:endParaRPr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066">
                <a:solidFill>
                  <a:schemeClr val="lt1"/>
                </a:solidFill>
              </a:rPr>
            </a:br>
            <a:endParaRPr sz="1066">
              <a:solidFill>
                <a:schemeClr val="lt1"/>
              </a:solidFill>
            </a:endParaRPr>
          </a:p>
        </p:txBody>
      </p:sp>
      <p:pic>
        <p:nvPicPr>
          <p:cNvPr id="142" name="Google Shape;142;p7"/>
          <p:cNvPicPr preferRelativeResize="0"/>
          <p:nvPr/>
        </p:nvPicPr>
        <p:blipFill rotWithShape="1">
          <a:blip r:embed="rId8">
            <a:alphaModFix/>
          </a:blip>
          <a:srcRect b="0" l="20535" r="12575" t="0"/>
          <a:stretch/>
        </p:blipFill>
        <p:spPr>
          <a:xfrm>
            <a:off x="6677894" y="1142375"/>
            <a:ext cx="1819269" cy="2110307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95958" y="2384876"/>
            <a:ext cx="1466920" cy="148062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9" name="Google Shape;149;p12"/>
          <p:cNvSpPr/>
          <p:nvPr/>
        </p:nvSpPr>
        <p:spPr>
          <a:xfrm>
            <a:off x="2960725" y="488175"/>
            <a:ext cx="5376000" cy="13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ts val="5200"/>
              <a:buFont typeface="Arial Black"/>
              <a:buNone/>
            </a:pPr>
            <a:r>
              <a:rPr lang="en-US" sz="3600">
                <a:solidFill>
                  <a:srgbClr val="F8F8F8"/>
                </a:solidFill>
                <a:latin typeface="Archivo Light"/>
                <a:ea typeface="Archivo Light"/>
                <a:cs typeface="Archivo Light"/>
                <a:sym typeface="Archivo Light"/>
              </a:rPr>
              <a:t>and thats the</a:t>
            </a:r>
            <a:br>
              <a:rPr b="1" lang="en-US" sz="5200">
                <a:solidFill>
                  <a:srgbClr val="F8F8F8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1" i="0" lang="en-US" sz="5200" u="none" cap="none" strike="noStrike">
                <a:solidFill>
                  <a:srgbClr val="F8F8F8"/>
                </a:solidFill>
                <a:latin typeface="Arial Black"/>
                <a:ea typeface="Arial Black"/>
                <a:cs typeface="Arial Black"/>
                <a:sym typeface="Arial Black"/>
              </a:rPr>
              <a:t>SOL</a:t>
            </a:r>
            <a:r>
              <a:rPr b="0" i="1" lang="en-US" sz="4900" u="none" cap="none" strike="noStrike">
                <a:solidFill>
                  <a:srgbClr val="F8F8F8"/>
                </a:solidFill>
                <a:latin typeface="Arial Black"/>
                <a:ea typeface="Arial Black"/>
                <a:cs typeface="Arial Black"/>
                <a:sym typeface="Arial Black"/>
              </a:rPr>
              <a:t>WEAR</a:t>
            </a:r>
            <a:endParaRPr b="0" i="1" sz="4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" name="Google Shape;150;p12" title="white_logo_without_bg..jp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12375" y="182875"/>
            <a:ext cx="436125" cy="43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2" title="Layer 0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3904" y="0"/>
            <a:ext cx="2239041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61906" y="2384880"/>
            <a:ext cx="1466915" cy="1488833"/>
          </a:xfrm>
          <a:prstGeom prst="rect">
            <a:avLst/>
          </a:prstGeom>
          <a:noFill/>
          <a:ln cap="flat" cmpd="sng" w="14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3" name="Google Shape;153;p12" title="white_logo_without_bg..jp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098" y="2100400"/>
            <a:ext cx="942650" cy="94267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2"/>
          <p:cNvSpPr txBox="1"/>
          <p:nvPr/>
        </p:nvSpPr>
        <p:spPr>
          <a:xfrm>
            <a:off x="6361914" y="3996891"/>
            <a:ext cx="1467000" cy="825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8550" lIns="188550" spcFirstLastPara="1" rIns="188550" wrap="square" tIns="1885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87"/>
              <a:t>site</a:t>
            </a:r>
            <a:endParaRPr sz="2887"/>
          </a:p>
        </p:txBody>
      </p:sp>
      <p:sp>
        <p:nvSpPr>
          <p:cNvPr id="155" name="Google Shape;155;p12"/>
          <p:cNvSpPr txBox="1"/>
          <p:nvPr/>
        </p:nvSpPr>
        <p:spPr>
          <a:xfrm>
            <a:off x="4695957" y="3996872"/>
            <a:ext cx="1467000" cy="825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8550" lIns="188550" spcFirstLastPara="1" rIns="188550" wrap="square" tIns="1885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87"/>
              <a:t>github</a:t>
            </a:r>
            <a:endParaRPr sz="2887"/>
          </a:p>
        </p:txBody>
      </p:sp>
      <p:sp>
        <p:nvSpPr>
          <p:cNvPr id="156" name="Google Shape;156;p12"/>
          <p:cNvSpPr txBox="1"/>
          <p:nvPr/>
        </p:nvSpPr>
        <p:spPr>
          <a:xfrm>
            <a:off x="3030000" y="3996891"/>
            <a:ext cx="1467000" cy="8253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8550" lIns="188550" spcFirstLastPara="1" rIns="188550" wrap="square" tIns="1885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87">
                <a:solidFill>
                  <a:schemeClr val="lt1"/>
                </a:solidFill>
              </a:rPr>
              <a:t>x.com</a:t>
            </a:r>
            <a:endParaRPr sz="2887">
              <a:solidFill>
                <a:schemeClr val="lt1"/>
              </a:solidFill>
            </a:endParaRPr>
          </a:p>
        </p:txBody>
      </p:sp>
      <p:pic>
        <p:nvPicPr>
          <p:cNvPr id="157" name="Google Shape;157;p12" title="qr-code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030000" y="2384875"/>
            <a:ext cx="1466904" cy="1495730"/>
          </a:xfrm>
          <a:prstGeom prst="rect">
            <a:avLst/>
          </a:prstGeom>
          <a:noFill/>
          <a:ln cap="flat" cmpd="sng" w="14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